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Alexandria ExtraBold"/>
      <p:regular r:id="rId201314"/>
    </p:embeddedFont>
    <p:embeddedFont>
      <p:font typeface="Alexandria Thin"/>
      <p:regular r:id="rId201315"/>
    </p:embeddedFont>
    <p:embeddedFont>
      <p:font typeface="Alexandria ExtraLight"/>
      <p:regular r:id="rId201316"/>
    </p:embeddedFont>
    <p:embeddedFont>
      <p:font typeface="Alexandria Light"/>
      <p:regular r:id="rId201317"/>
    </p:embeddedFont>
    <p:embeddedFont>
      <p:font typeface="Alexandria"/>
      <p:regular r:id="rId201318"/>
    </p:embeddedFont>
    <p:embeddedFont>
      <p:font typeface="Alexandria Medium"/>
      <p:regular r:id="rId201319"/>
    </p:embeddedFont>
    <p:embeddedFont>
      <p:font typeface="Alexandria SemiBold"/>
      <p:regular r:id="rId201320"/>
    </p:embeddedFont>
    <p:embeddedFont>
      <p:font typeface="Alexandria Bold"/>
      <p:regular r:id="rId201321"/>
    </p:embeddedFont>
    <p:embeddedFont>
      <p:font typeface="Alexandria Black"/>
      <p:regular r:id="rId201322"/>
    </p:embeddedFont>
    <p:embeddedFont>
      <p:font typeface="Sora Thin"/>
      <p:regular r:id="rId201323"/>
    </p:embeddedFont>
    <p:embeddedFont>
      <p:font typeface="Sora ExtraLight"/>
      <p:regular r:id="rId201324"/>
    </p:embeddedFont>
    <p:embeddedFont>
      <p:font typeface="Sora Medium"/>
      <p:regular r:id="rId201325"/>
    </p:embeddedFont>
    <p:embeddedFont>
      <p:font typeface="Sora Light"/>
      <p:regular r:id="rId201326"/>
    </p:embeddedFont>
    <p:embeddedFont>
      <p:font typeface="Sora"/>
      <p:regular r:id="rId201327"/>
    </p:embeddedFont>
    <p:embeddedFont>
      <p:font typeface="Sora SemiBold"/>
      <p:regular r:id="rId201328"/>
    </p:embeddedFont>
    <p:embeddedFont>
      <p:font typeface="Sora Bold"/>
      <p:regular r:id="rId201329"/>
    </p:embeddedFont>
    <p:embeddedFont>
      <p:font typeface="Sora ExtraBold"/>
      <p:regular r:id="rId2013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2.png"/><Relationship Id="rId5" Type="http://schemas.openxmlformats.org/officeDocument/2006/relationships/image" Target="../media/image-10-3.svg"/><Relationship Id="rId6" Type="http://schemas.openxmlformats.org/officeDocument/2006/relationships/image" Target="../media/image-10-2.png"/><Relationship Id="rId7" Type="http://schemas.openxmlformats.org/officeDocument/2006/relationships/image" Target="../media/image-10-3.svg"/><Relationship Id="rId8" Type="http://schemas.openxmlformats.org/officeDocument/2006/relationships/image" Target="../media/image-10-2.png"/><Relationship Id="rId9" Type="http://schemas.openxmlformats.org/officeDocument/2006/relationships/image" Target="../media/image-10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1808038"/>
            <a:ext cx="4767114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Customer Shopping Behavior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3902943" y="2902000"/>
            <a:ext cx="4767114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Uncovering insights from </a:t>
            </a:r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3,900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to guide smarter business decisions.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874068"/>
            <a:ext cx="8196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Dataset at a Glance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73943" y="1657945"/>
            <a:ext cx="4013448" cy="446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3,900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473943" y="2273945"/>
            <a:ext cx="401344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Transactions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3943" y="2577778"/>
            <a:ext cx="4013448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Across all product categories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656609" y="1657945"/>
            <a:ext cx="4013448" cy="446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18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4656609" y="2273945"/>
            <a:ext cx="401344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Features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56609" y="2577778"/>
            <a:ext cx="4013448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Demographics, purchases &amp; behavior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3943" y="3132906"/>
            <a:ext cx="4013448" cy="446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37</a:t>
            </a:r>
            <a:endParaRPr lang="en-US" sz="3500" dirty="0"/>
          </a:p>
        </p:txBody>
      </p:sp>
      <p:sp>
        <p:nvSpPr>
          <p:cNvPr id="10" name="Text 8"/>
          <p:cNvSpPr/>
          <p:nvPr/>
        </p:nvSpPr>
        <p:spPr>
          <a:xfrm>
            <a:off x="473943" y="3748906"/>
            <a:ext cx="401344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Missing Values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3943" y="4052739"/>
            <a:ext cx="4013448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 Review Rating column only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56609" y="3132906"/>
            <a:ext cx="4013448" cy="446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50</a:t>
            </a:r>
            <a:endParaRPr lang="en-US" sz="3500" dirty="0"/>
          </a:p>
        </p:txBody>
      </p:sp>
      <p:sp>
        <p:nvSpPr>
          <p:cNvPr id="13" name="Text 11"/>
          <p:cNvSpPr/>
          <p:nvPr/>
        </p:nvSpPr>
        <p:spPr>
          <a:xfrm>
            <a:off x="4656609" y="3748906"/>
            <a:ext cx="401344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Locations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56609" y="4052739"/>
            <a:ext cx="4013448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Geographic coverage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3943" y="939626"/>
            <a:ext cx="4767114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Data Preparation in Python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73943" y="2033588"/>
            <a:ext cx="2315840" cy="1234157"/>
          </a:xfrm>
          <a:prstGeom prst="roundRect">
            <a:avLst>
              <a:gd name="adj" fmla="val 4608"/>
            </a:avLst>
          </a:prstGeom>
          <a:solidFill>
            <a:srgbClr val="D5DCF6"/>
          </a:solidFill>
          <a:ln w="4763">
            <a:solidFill>
              <a:srgbClr val="BBC2D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14065" y="2173709"/>
            <a:ext cx="2035597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Clean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14065" y="2477542"/>
            <a:ext cx="2035597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Imputed missing Review Ratings using median by category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925142" y="2033588"/>
            <a:ext cx="2315914" cy="1234157"/>
          </a:xfrm>
          <a:prstGeom prst="roundRect">
            <a:avLst>
              <a:gd name="adj" fmla="val 4608"/>
            </a:avLst>
          </a:prstGeom>
          <a:solidFill>
            <a:srgbClr val="D5DCF6"/>
          </a:solidFill>
          <a:ln w="4763">
            <a:solidFill>
              <a:srgbClr val="BBC2D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65264" y="2173709"/>
            <a:ext cx="2035671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Engineer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065264" y="2477542"/>
            <a:ext cx="2035671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Created </a:t>
            </a:r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age_group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bins &amp; </a:t>
            </a:r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purchase_frequency_days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3943" y="3403104"/>
            <a:ext cx="4767114" cy="800770"/>
          </a:xfrm>
          <a:prstGeom prst="roundRect">
            <a:avLst>
              <a:gd name="adj" fmla="val 7102"/>
            </a:avLst>
          </a:prstGeom>
          <a:solidFill>
            <a:srgbClr val="D5DCF6"/>
          </a:solidFill>
          <a:ln w="4763">
            <a:solidFill>
              <a:srgbClr val="BBC2D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4065" y="3543226"/>
            <a:ext cx="448687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Integrate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14065" y="3847058"/>
            <a:ext cx="448687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Loaded cleaned DataFrame into PostgreSQL for SQL analysis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679698"/>
            <a:ext cx="8196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Revenue by Gender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943" y="1480542"/>
            <a:ext cx="3932858" cy="28308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1962" y="1463576"/>
            <a:ext cx="393285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Key Finding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741962" y="1821582"/>
            <a:ext cx="3932858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Male customers generated </a:t>
            </a:r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2.1× more revenue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than female customers.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741962" y="2407295"/>
            <a:ext cx="1898749" cy="883518"/>
          </a:xfrm>
          <a:prstGeom prst="roundRect">
            <a:avLst>
              <a:gd name="adj" fmla="val 6437"/>
            </a:avLst>
          </a:prstGeom>
          <a:solidFill>
            <a:srgbClr val="FFFAFA"/>
          </a:solidFill>
          <a:ln w="19050">
            <a:solidFill>
              <a:srgbClr val="BBC2D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896371" y="2561704"/>
            <a:ext cx="1589931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Male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896371" y="2919710"/>
            <a:ext cx="1589931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$157,890 total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776070" y="2407295"/>
            <a:ext cx="1898749" cy="883518"/>
          </a:xfrm>
          <a:prstGeom prst="roundRect">
            <a:avLst>
              <a:gd name="adj" fmla="val 6437"/>
            </a:avLst>
          </a:prstGeom>
          <a:solidFill>
            <a:srgbClr val="FFFAFA"/>
          </a:solidFill>
          <a:ln w="19050">
            <a:solidFill>
              <a:srgbClr val="BBC2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30479" y="2561704"/>
            <a:ext cx="1589931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Female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930479" y="2919710"/>
            <a:ext cx="1589931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$75,191 total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500732"/>
            <a:ext cx="8196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Products &amp; Discounts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73943" y="1284610"/>
            <a:ext cx="393285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Top 5 Products by Rating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943" y="1659582"/>
            <a:ext cx="3932858" cy="28308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41962" y="1284610"/>
            <a:ext cx="393285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Most Discount-Dependent Products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741962" y="1642616"/>
            <a:ext cx="3932858" cy="1272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Hat</a:t>
            </a:r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50% of purchases discounted</a:t>
            </a:r>
            <a:endParaRPr lang="en-US" sz="1050" dirty="0"/>
          </a:p>
          <a:p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Sneakers</a:t>
            </a:r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49.66%</a:t>
            </a:r>
            <a:endParaRPr lang="en-US" sz="1050" dirty="0"/>
          </a:p>
          <a:p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Coat</a:t>
            </a:r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49.07%</a:t>
            </a:r>
            <a:endParaRPr lang="en-US" sz="1050" dirty="0"/>
          </a:p>
          <a:p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Sweater</a:t>
            </a:r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48.17%</a:t>
            </a:r>
            <a:endParaRPr lang="en-US" sz="1050" dirty="0"/>
          </a:p>
          <a:p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Pants</a:t>
            </a:r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47.37%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741962" y="3037210"/>
            <a:ext cx="4390058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839 customers used discounts </a:t>
            </a:r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and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spent above average.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3943" y="1343099"/>
            <a:ext cx="4767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Shipping &amp; Subscriptions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73943" y="1991618"/>
            <a:ext cx="4767114" cy="1808708"/>
          </a:xfrm>
          <a:prstGeom prst="roundRect">
            <a:avLst>
              <a:gd name="adj" fmla="val 3144"/>
            </a:avLst>
          </a:prstGeom>
          <a:solidFill>
            <a:srgbClr val="D5DCF6"/>
          </a:solidFill>
          <a:ln w="4763">
            <a:solidFill>
              <a:srgbClr val="BBC2D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78706" y="1996380"/>
            <a:ext cx="2378794" cy="1007938"/>
          </a:xfrm>
          <a:prstGeom prst="rect">
            <a:avLst/>
          </a:prstGeom>
          <a:solidFill>
            <a:srgbClr val="D5DCF6"/>
          </a:solidFill>
          <a:ln/>
        </p:spPr>
      </p:sp>
      <p:sp>
        <p:nvSpPr>
          <p:cNvPr id="6" name="Text 3"/>
          <p:cNvSpPr/>
          <p:nvPr/>
        </p:nvSpPr>
        <p:spPr>
          <a:xfrm>
            <a:off x="614065" y="2131740"/>
            <a:ext cx="210807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Express Shipping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14065" y="2435572"/>
            <a:ext cx="2108076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Avg spend: </a:t>
            </a:r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$60.48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vs. Standard $58.46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857500" y="1996380"/>
            <a:ext cx="2378794" cy="1007938"/>
          </a:xfrm>
          <a:prstGeom prst="rect">
            <a:avLst/>
          </a:prstGeom>
          <a:solidFill>
            <a:srgbClr val="D5DCF6"/>
          </a:solidFill>
          <a:ln/>
        </p:spPr>
      </p:sp>
      <p:sp>
        <p:nvSpPr>
          <p:cNvPr id="9" name="Shape 6"/>
          <p:cNvSpPr/>
          <p:nvPr/>
        </p:nvSpPr>
        <p:spPr>
          <a:xfrm>
            <a:off x="2857500" y="1996380"/>
            <a:ext cx="19050" cy="1007938"/>
          </a:xfrm>
          <a:prstGeom prst="roundRect">
            <a:avLst>
              <a:gd name="adj" fmla="val 298550"/>
            </a:avLst>
          </a:prstGeom>
          <a:solidFill>
            <a:srgbClr val="BBC2DC"/>
          </a:solidFill>
          <a:ln/>
        </p:spPr>
      </p:sp>
      <p:sp>
        <p:nvSpPr>
          <p:cNvPr id="10" name="Text 7"/>
          <p:cNvSpPr/>
          <p:nvPr/>
        </p:nvSpPr>
        <p:spPr>
          <a:xfrm>
            <a:off x="2992859" y="2131740"/>
            <a:ext cx="210807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Subscribers (27%)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992859" y="2435572"/>
            <a:ext cx="2108076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1,053 customers · Avg spend $59.49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8706" y="3004319"/>
            <a:ext cx="4757589" cy="791245"/>
          </a:xfrm>
          <a:prstGeom prst="rect">
            <a:avLst/>
          </a:prstGeom>
          <a:solidFill>
            <a:srgbClr val="D5DCF6"/>
          </a:solidFill>
          <a:ln/>
        </p:spPr>
      </p:sp>
      <p:sp>
        <p:nvSpPr>
          <p:cNvPr id="13" name="Shape 10"/>
          <p:cNvSpPr/>
          <p:nvPr/>
        </p:nvSpPr>
        <p:spPr>
          <a:xfrm>
            <a:off x="478706" y="3004319"/>
            <a:ext cx="4757589" cy="19050"/>
          </a:xfrm>
          <a:prstGeom prst="roundRect">
            <a:avLst>
              <a:gd name="adj" fmla="val 298550"/>
            </a:avLst>
          </a:prstGeom>
          <a:solidFill>
            <a:srgbClr val="BBC2DC"/>
          </a:solidFill>
          <a:ln/>
        </p:spPr>
      </p:sp>
      <p:sp>
        <p:nvSpPr>
          <p:cNvPr id="14" name="Text 11"/>
          <p:cNvSpPr/>
          <p:nvPr/>
        </p:nvSpPr>
        <p:spPr>
          <a:xfrm>
            <a:off x="614065" y="3139678"/>
            <a:ext cx="448687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Non-Subscribers (73%)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14065" y="3443511"/>
            <a:ext cx="448687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2,847 customers · Avg spend $59.87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679698"/>
            <a:ext cx="8196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Customer Segmentation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943" y="1480542"/>
            <a:ext cx="3932858" cy="28308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1962" y="1463576"/>
            <a:ext cx="393285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Segment Breakdown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741962" y="1821582"/>
            <a:ext cx="3932858" cy="744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Loyal:</a:t>
            </a:r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3,116 customers — dominant segment</a:t>
            </a:r>
            <a:endParaRPr lang="en-US" sz="1050" dirty="0"/>
          </a:p>
          <a:p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Returning:</a:t>
            </a:r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701 customers</a:t>
            </a:r>
            <a:endParaRPr lang="en-US" sz="1050" dirty="0"/>
          </a:p>
          <a:p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New:</a:t>
            </a:r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83 customers — growth opportunity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741962" y="2718643"/>
            <a:ext cx="3932858" cy="744587"/>
          </a:xfrm>
          <a:prstGeom prst="roundRect">
            <a:avLst>
              <a:gd name="adj" fmla="val 7638"/>
            </a:avLst>
          </a:prstGeom>
          <a:solidFill>
            <a:srgbClr val="D5DCF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321" y="2921719"/>
            <a:ext cx="169218" cy="1353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81898" y="2874243"/>
            <a:ext cx="3357563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958 repeat buyers (5+ purchases) have subscriptions vs. 2,518 without.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679698"/>
            <a:ext cx="8196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Revenue by Age Group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943" y="1480542"/>
            <a:ext cx="3932858" cy="28308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1962" y="1463576"/>
            <a:ext cx="393285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741962" y="1821582"/>
            <a:ext cx="3932858" cy="988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Young Adults lead in revenue contribution, but spend is </a:t>
            </a:r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relatively balanced</a:t>
            </a:r>
            <a:pPr algn="l" indent="0" marL="0">
              <a:lnSpc>
                <a:spcPct val="133000"/>
              </a:lnSpc>
              <a:spcAft>
                <a:spcPts val="950"/>
              </a:spcAft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across all age groups.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Average purchase: </a:t>
            </a:r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$59.76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Average review rating: </a:t>
            </a:r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3.75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400496"/>
            <a:ext cx="4767114" cy="410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Power BI Dashboard</a:t>
            </a:r>
            <a:endParaRPr lang="en-US" sz="2550" dirty="0"/>
          </a:p>
        </p:txBody>
      </p:sp>
      <p:sp>
        <p:nvSpPr>
          <p:cNvPr id="4" name="Shape 1"/>
          <p:cNvSpPr/>
          <p:nvPr/>
        </p:nvSpPr>
        <p:spPr>
          <a:xfrm>
            <a:off x="3902943" y="983679"/>
            <a:ext cx="4767114" cy="725239"/>
          </a:xfrm>
          <a:prstGeom prst="roundRect">
            <a:avLst>
              <a:gd name="adj" fmla="val 7229"/>
            </a:avLst>
          </a:prstGeom>
          <a:solidFill>
            <a:srgbClr val="D5DCF6"/>
          </a:solidFill>
          <a:ln w="4763">
            <a:solidFill>
              <a:srgbClr val="BBC2D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32498" y="1113234"/>
            <a:ext cx="4508004" cy="205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3.9K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032498" y="1387450"/>
            <a:ext cx="4508004" cy="191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Customers tracked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902943" y="1823963"/>
            <a:ext cx="4767114" cy="725239"/>
          </a:xfrm>
          <a:prstGeom prst="roundRect">
            <a:avLst>
              <a:gd name="adj" fmla="val 7229"/>
            </a:avLst>
          </a:prstGeom>
          <a:solidFill>
            <a:srgbClr val="D5DCF6"/>
          </a:solidFill>
          <a:ln w="4763">
            <a:solidFill>
              <a:srgbClr val="BBC2D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32498" y="1953518"/>
            <a:ext cx="4508004" cy="205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$59.76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032498" y="2227734"/>
            <a:ext cx="4508004" cy="191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Avg purchase amount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902943" y="2664247"/>
            <a:ext cx="4767114" cy="725239"/>
          </a:xfrm>
          <a:prstGeom prst="roundRect">
            <a:avLst>
              <a:gd name="adj" fmla="val 7229"/>
            </a:avLst>
          </a:prstGeom>
          <a:solidFill>
            <a:srgbClr val="D5DCF6"/>
          </a:solidFill>
          <a:ln w="4763">
            <a:solidFill>
              <a:srgbClr val="BBC2D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32498" y="2793802"/>
            <a:ext cx="4508004" cy="205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3.75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032498" y="3068017"/>
            <a:ext cx="4508004" cy="191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Avg review rating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902943" y="3504530"/>
            <a:ext cx="4767114" cy="725239"/>
          </a:xfrm>
          <a:prstGeom prst="roundRect">
            <a:avLst>
              <a:gd name="adj" fmla="val 7229"/>
            </a:avLst>
          </a:prstGeom>
          <a:solidFill>
            <a:srgbClr val="D5DCF6"/>
          </a:solidFill>
          <a:ln w="4763">
            <a:solidFill>
              <a:srgbClr val="BBC2D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32498" y="3634085"/>
            <a:ext cx="4508004" cy="205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73%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032498" y="3908301"/>
            <a:ext cx="4508004" cy="191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Non-subscribers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902943" y="4359176"/>
            <a:ext cx="4767114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Interactive filters: Gender, Category, Shipping Type, Age Group — with live Revenue &amp; Sales charts.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577528"/>
            <a:ext cx="4767114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Business Recommendations</a:t>
            </a:r>
            <a:endParaRPr lang="en-US" sz="2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53694" y="1675656"/>
            <a:ext cx="203076" cy="2030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342954" y="1671489"/>
            <a:ext cx="4327103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Boost Subscriptions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4342954" y="1975321"/>
            <a:ext cx="4327103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Promote exclusive subscriber benefits</a:t>
            </a:r>
            <a:endParaRPr lang="en-US" sz="10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53694" y="2466975"/>
            <a:ext cx="203076" cy="2030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342954" y="2462808"/>
            <a:ext cx="4327103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Loyalty Programs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4342954" y="2766640"/>
            <a:ext cx="4327103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Reward repeat buyers to grow "Loyal" segment</a:t>
            </a:r>
            <a:endParaRPr lang="en-US" sz="10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53694" y="3258294"/>
            <a:ext cx="203076" cy="2030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342954" y="3254127"/>
            <a:ext cx="4327103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Review Discount Policy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4342954" y="3557960"/>
            <a:ext cx="4327103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Balance sales lift with margin control</a:t>
            </a:r>
            <a:endParaRPr lang="en-US" sz="10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53694" y="4049613"/>
            <a:ext cx="203076" cy="20307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342954" y="4045446"/>
            <a:ext cx="4327103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Targeted Marketing</a:t>
            </a:r>
            <a:endParaRPr lang="en-US" sz="1400" dirty="0"/>
          </a:p>
        </p:txBody>
      </p:sp>
      <p:sp>
        <p:nvSpPr>
          <p:cNvPr id="15" name="Text 8"/>
          <p:cNvSpPr/>
          <p:nvPr/>
        </p:nvSpPr>
        <p:spPr>
          <a:xfrm>
            <a:off x="4342954" y="4349279"/>
            <a:ext cx="4327103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Focus on high-revenue age groups &amp; express-shipping users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2026-07-18T19:33:58Z</dcterms:created>
  <dcterms:modified xsi:type="dcterms:W3CDTF">2026-07-18T19:33:58Z</dcterms:modified>
</cp:coreProperties>
</file>